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ST-GCN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dLbl>
              <c:idx val="0"/>
              <c:layout>
                <c:manualLayout>
                  <c:x val="-1.6534391534391837E-3"/>
                  <c:y val="0.32552083333333337"/>
                </c:manualLayout>
              </c:layout>
              <c:dLblPos val="outEnd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C00E-42D9-A0BE-9CFB685A575B}"/>
                </c:ext>
              </c:extLst>
            </c:dLbl>
            <c:numFmt formatCode="#,##0.00" sourceLinked="0"/>
            <c:spPr>
              <a:noFill/>
              <a:ln>
                <a:noFill/>
              </a:ln>
              <a:effectLst/>
            </c:spPr>
            <c:txPr>
              <a:bodyPr rot="-5400000" vert="horz"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trendline>
            <c:trendlineType val="linear"/>
            <c:dispRSqr val="0"/>
            <c:dispEq val="0"/>
          </c:trendline>
          <c:cat>
            <c:strRef>
              <c:f>Sheet1!$A$2:$A$2</c:f>
              <c:strCache>
                <c:ptCount val="1"/>
                <c:pt idx="0">
                  <c:v>Accuracy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00E-42D9-A0BE-9CFB685A575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2s-AGCN</c:v>
                </c:pt>
              </c:strCache>
            </c:strRef>
          </c:tx>
          <c:spPr>
            <a:effectLst/>
          </c:spPr>
          <c:invertIfNegative val="0"/>
          <c:dLbls>
            <c:dLbl>
              <c:idx val="0"/>
              <c:layout>
                <c:manualLayout>
                  <c:x val="-1.6534391534391533E-3"/>
                  <c:y val="0.36024305555555558"/>
                </c:manualLayout>
              </c:layout>
              <c:numFmt formatCode="#,##0.00" sourceLinked="0"/>
              <c:spPr>
                <a:noFill/>
                <a:ln>
                  <a:noFill/>
                </a:ln>
                <a:effectLst/>
              </c:spPr>
              <c:txPr>
                <a:bodyPr rot="-5400000" vert="horz"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C00E-42D9-A0BE-9CFB685A575B}"/>
                </c:ext>
              </c:extLst>
            </c:dLbl>
            <c:numFmt formatCode="#,##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Accuracy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76.8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00E-42D9-A0BE-9CFB685A575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MSG3D</c:v>
                </c:pt>
              </c:strCache>
            </c:strRef>
          </c:tx>
          <c:spPr>
            <a:effectLst/>
          </c:spPr>
          <c:invertIfNegative val="0"/>
          <c:dLbls>
            <c:dLbl>
              <c:idx val="0"/>
              <c:layout>
                <c:manualLayout>
                  <c:x val="3.3068783068783067E-3"/>
                  <c:y val="0.37760416666666669"/>
                </c:manualLayout>
              </c:layout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C00E-42D9-A0BE-9CFB685A575B}"/>
                </c:ext>
              </c:extLst>
            </c:dLbl>
            <c:numFmt formatCode="#,##0.00" sourceLinked="0"/>
            <c:spPr>
              <a:noFill/>
              <a:ln>
                <a:noFill/>
              </a:ln>
              <a:effectLst/>
            </c:spPr>
            <c:txPr>
              <a:bodyPr rot="-5400000" vert="horz"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Accuracy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77.099999999999994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00E-42D9-A0BE-9CFB685A575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Pose Transformer</c:v>
                </c:pt>
              </c:strCache>
            </c:strRef>
          </c:tx>
          <c:spPr>
            <a:solidFill>
              <a:schemeClr val="accent6">
                <a:lumMod val="60000"/>
                <a:lumOff val="40000"/>
              </a:schemeClr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0.2560763888888889"/>
                </c:manualLayout>
              </c:layout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00E-42D9-A0BE-9CFB685A575B}"/>
                </c:ext>
              </c:extLst>
            </c:dLbl>
            <c:numFmt formatCode="#,##0.00" sourceLinked="0"/>
            <c:spPr>
              <a:noFill/>
              <a:ln>
                <a:noFill/>
              </a:ln>
              <a:effectLst/>
            </c:spPr>
            <c:txPr>
              <a:bodyPr rot="-5400000" vert="horz"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Accuracy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82.5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00E-42D9-A0BE-9CFB685A575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CTR-GCN (Ours)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dLbl>
              <c:idx val="0"/>
              <c:layout>
                <c:manualLayout>
                  <c:x val="-1.2125080388590469E-16"/>
                  <c:y val="0.2517361111111111"/>
                </c:manualLayout>
              </c:layout>
              <c:numFmt formatCode="#,##0.00" sourceLinked="0"/>
              <c:spPr>
                <a:noFill/>
                <a:ln>
                  <a:noFill/>
                </a:ln>
                <a:effectLst/>
              </c:spPr>
              <c:txPr>
                <a:bodyPr rot="-5400000" vert="horz" anchor="b" anchorCtr="1"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C00E-42D9-A0BE-9CFB685A575B}"/>
                </c:ext>
              </c:extLst>
            </c:dLbl>
            <c:numFmt formatCode="#,##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Accuracy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95.76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00E-42D9-A0BE-9CFB685A575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53734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Skeleton-Based Human Action Recognition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UCS761 Deep Learning Project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by: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Sahil Kumar (102316091) • Aashish Sharma (102316104)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Chaitanya Singh Chouhan (102316106) • Naman Jain (102316108)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" cy="36576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Action Recognition (HAR)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identifies human activities from visual data with applications in: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systems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monitoring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Human-computer interaction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 analytics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Skeleton-Based?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to background noise and lighting variations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computational complexity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to environmental changes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Challenges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 Skeletal Data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 estimation errors lead to unstable joint trajectories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4754880" y="1097280"/>
            <a:ext cx="73152" cy="10972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2344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Motion Patterns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 to distinguish between actions with subtle differences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3931920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377440"/>
            <a:ext cx="73152" cy="10972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5146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Variability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Variations in speed, viewpoint, and individual differences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2377440"/>
            <a:ext cx="3931920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377440"/>
            <a:ext cx="73152" cy="10972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25146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Deployment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 accuracy with computational efficiency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2-stream CTR-GCN ensemble leveraging Graph Convolutional Networks and Transformers to learn robust spatial-temporal features while handling noise effectively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Methodology: Model Architecture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00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344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CTR-GCN Architecture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6576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Graph Convolutional Network with Channel-wise Topology Refinement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2-Stream Ensemble: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Joint Stream: Raw coordinates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Bone Stream: Vector differences between joints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Three-Stage Architecture: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1: 2-3 → 64 channels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2: 64 → 128 channels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3: 128 → 256 channels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3200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0" y="12344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Configuration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937760" y="1645920"/>
            <a:ext cx="35661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Function: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CrossEntropyLoss for multi-class classification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with Nesterov momentum (0.9)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decay: 1e-4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Rate: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CosineAnnealingLR: 0.1 → ~0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Activation: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 throughout all layers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Methodology: Workflow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71600" y="123444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NTU RGB+D (NTU-60) dataset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~56k sequences, 60 action classes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0" y="11887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669280" y="123444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normalization (64 frames)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centralization, noise augmentation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separate streams (joint and bone)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epochs with best model selection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0" y="228600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0" y="23317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fusion with equal weighting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logits from both streams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33832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4290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accuracy, precision, recall, F1-score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analysis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solidFill>
            <a:srgbClr val="1E3A8A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Cross-View Split: ~37k train samples, ~19k test samples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51760" cy="3657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43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Parameters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Epochs: 60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size: 32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LR: 0.1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Decay: Cosine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Momentum: 0.9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decay: 1e-4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005840"/>
            <a:ext cx="2651760" cy="3657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3337560" y="1143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Parameters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29000" y="160020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17 COCO joints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Frames: 64 (uniform)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Channels: 3 (x, y, score)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Augmentation: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Gaussian noise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Centralization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005840"/>
            <a:ext cx="2651760" cy="3657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1143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160020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Dropout: 0.5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BatchNorm in GCN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smoothing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Performance Metrics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1371600" y="1188720"/>
            <a:ext cx="6400800" cy="118872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3716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95.76%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371600" y="1965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Accuracy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5949907"/>
              </p:ext>
            </p:extLst>
          </p:nvPr>
        </p:nvGraphicFramePr>
        <p:xfrm>
          <a:off x="1828800" y="2743200"/>
          <a:ext cx="5486400" cy="137769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(Macro)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95.85%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(Macro)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95.77%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F1-Score (Macro)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95.77%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828800" y="2743200"/>
            <a:ext cx="5486400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5"/>
          <p:cNvSpPr/>
          <p:nvPr/>
        </p:nvSpPr>
        <p:spPr>
          <a:xfrm>
            <a:off x="182880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and well-balanced classification across all 60 action classes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Analysis</a:t>
            </a:r>
            <a:endParaRPr lang="en-US" sz="3800" dirty="0"/>
          </a:p>
        </p:txBody>
      </p:sp>
      <p:pic>
        <p:nvPicPr>
          <p:cNvPr id="3" name="Image 0" descr="extracted_images/image_2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188720"/>
            <a:ext cx="3657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4572000" y="1097280"/>
            <a:ext cx="4114800" cy="3566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3"/>
          <p:cNvSpPr/>
          <p:nvPr/>
        </p:nvSpPr>
        <p:spPr>
          <a:xfrm>
            <a:off x="4754880" y="12801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846320" y="173736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Dominant diagonal pattern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class separability with minimal misclassification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Stable convergence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Decreasing loss without overfitting indicators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Effective regularization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and data augmentation prevent overfitting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Minor confusion in similar actions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with similar motion patterns show slight overlap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with Baseline Models</a:t>
            </a:r>
            <a:endParaRPr lang="en-US" sz="38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2277629517"/>
              </p:ext>
            </p:extLst>
          </p:nvPr>
        </p:nvGraphicFramePr>
        <p:xfrm>
          <a:off x="731520" y="1188720"/>
          <a:ext cx="768096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model demonstrates ~20% improvement over baseline methods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188720" y="1554480"/>
            <a:ext cx="67665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Achievements</a:t>
            </a:r>
            <a:endParaRPr lang="en-US" sz="2000" dirty="0"/>
          </a:p>
          <a:p>
            <a:pPr marL="0" indent="0" algn="l">
              <a:buNone/>
            </a:pPr>
            <a:endParaRPr lang="en-US" sz="20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Achieved 95.76% accuracy with balanced precision, recall, and F1-score</a:t>
            </a:r>
            <a:endParaRPr lang="en-US" sz="2000" dirty="0"/>
          </a:p>
          <a:p>
            <a:pPr marL="0" indent="0" algn="l">
              <a:buNone/>
            </a:pPr>
            <a:endParaRPr lang="en-US" sz="20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Significant improvement (~20%) over baseline ST-GCN, MSG3D, and Transformers</a:t>
            </a:r>
            <a:endParaRPr lang="en-US" sz="2000" dirty="0"/>
          </a:p>
          <a:p>
            <a:pPr marL="0" indent="0" algn="l">
              <a:buNone/>
            </a:pPr>
            <a:endParaRPr lang="en-US" sz="20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Robust feature learning through joint-bone dual-stream fusion</a:t>
            </a:r>
            <a:endParaRPr lang="en-US" sz="2000" dirty="0"/>
          </a:p>
          <a:p>
            <a:pPr marL="0" indent="0" algn="l">
              <a:buNone/>
            </a:pPr>
            <a:endParaRPr lang="en-US" sz="2000" dirty="0"/>
          </a:p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2000" dirty="0"/>
          </a:p>
          <a:p>
            <a:pPr marL="0" indent="0" algn="l">
              <a:buNone/>
            </a:pPr>
            <a:endParaRPr lang="en-US" sz="2000" dirty="0"/>
          </a:p>
          <a:p>
            <a:pPr marL="342900" indent="-342900" algn="l"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Transformer-based temporal modeling for longer sequences</a:t>
            </a:r>
            <a:endParaRPr lang="en-US" sz="2000" dirty="0"/>
          </a:p>
          <a:p>
            <a:pPr marL="342900" indent="-342900" algn="l"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Self-supervised learning to reduce annotation dependency</a:t>
            </a:r>
            <a:endParaRPr lang="en-US" sz="2000" dirty="0"/>
          </a:p>
          <a:p>
            <a:pPr marL="342900" indent="-342900" algn="l"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Multimodal integration with object context and text alignment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585</Words>
  <Application>Microsoft Office PowerPoint</Application>
  <PresentationFormat>On-screen Show (16:9)</PresentationFormat>
  <Paragraphs>156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Skeleton-Based Human Action Recognition</dc:title>
  <dc:subject>PptxGenJS Presentation</dc:subject>
  <dc:creator>Aashish Sharma, Sahil Kumar, Chaitanya Singh Chouhan, Naman Jain</dc:creator>
  <cp:lastModifiedBy>Naman Jain</cp:lastModifiedBy>
  <cp:revision>5</cp:revision>
  <dcterms:created xsi:type="dcterms:W3CDTF">2026-04-26T11:44:55Z</dcterms:created>
  <dcterms:modified xsi:type="dcterms:W3CDTF">2026-04-27T08:37:43Z</dcterms:modified>
</cp:coreProperties>
</file>